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9400"/>
            <a:ext cx="12191695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6568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Arena Shooter · Level Design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568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7B879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568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7B879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21792"/>
            <a:ext cx="5760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거점 웨이브 슈터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설계 PPT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874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언리얼 엔진 3인칭 아레나 슈터 · 중앙 방어형 웨이브 전투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" y="2450592"/>
            <a:ext cx="49377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560320"/>
            <a:ext cx="4608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핵심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288036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플레이어는 중앙에서 시작하고, 라운드별로 늘어나는 방향의 적을 처치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68680" y="324612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1R 북·남 → 2R 사방 → 3R 대각선 2개 추가 → 4R 8방향 → 5R 중앙 보스</a:t>
            </a:r>
            <a:endParaRPr lang="en-US" sz="88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맵 크기, 스폰 거리, 엄폐물 수량까지 구현 기준으로 수치화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40080" y="489204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498348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E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40m × 30m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3232" y="530352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맵 크기</a:t>
            </a:r>
            <a:endParaRPr lang="en-US" sz="680" dirty="0"/>
          </a:p>
        </p:txBody>
      </p:sp>
      <p:sp>
        <p:nvSpPr>
          <p:cNvPr id="12" name="Shape 10"/>
          <p:cNvSpPr/>
          <p:nvPr/>
        </p:nvSpPr>
        <p:spPr>
          <a:xfrm>
            <a:off x="2148840" y="4892040"/>
            <a:ext cx="1051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21992" y="4983480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8방향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21992" y="5303520"/>
            <a:ext cx="905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 방향</a:t>
            </a:r>
            <a:endParaRPr lang="en-US" sz="680" dirty="0"/>
          </a:p>
        </p:txBody>
      </p:sp>
      <p:sp>
        <p:nvSpPr>
          <p:cNvPr id="15" name="Shape 13"/>
          <p:cNvSpPr/>
          <p:nvPr/>
        </p:nvSpPr>
        <p:spPr>
          <a:xfrm>
            <a:off x="3383280" y="4892040"/>
            <a:ext cx="9601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56432" y="498348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E57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56432" y="5303520"/>
            <a:ext cx="813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라운드</a:t>
            </a:r>
            <a:endParaRPr lang="en-US" sz="680" dirty="0"/>
          </a:p>
        </p:txBody>
      </p:sp>
      <p:sp>
        <p:nvSpPr>
          <p:cNvPr id="18" name="Shape 16"/>
          <p:cNvSpPr/>
          <p:nvPr/>
        </p:nvSpPr>
        <p:spPr>
          <a:xfrm>
            <a:off x="4526280" y="48920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4983480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99432" y="5303520"/>
            <a:ext cx="859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플레이</a:t>
            </a:r>
            <a:endParaRPr lang="en-US" sz="680" dirty="0"/>
          </a:p>
        </p:txBody>
      </p:sp>
      <p:pic>
        <p:nvPicPr>
          <p:cNvPr id="21" name="Image 0" descr="/mnt/data/중앙_거점_웨이브_슈터_아레나_맵.png">    </p:cNvPr>
          <p:cNvPicPr>
            <a:picLocks noChangeAspect="1"/>
          </p:cNvPicPr>
          <p:nvPr/>
        </p:nvPicPr>
        <p:blipFill>
          <a:blip r:embed="rId1"/>
          <a:srcRect l="14423" r="14423" t="0" b="0"/>
          <a:stretch/>
        </p:blipFill>
        <p:spPr>
          <a:xfrm>
            <a:off x="6537960" y="594360"/>
            <a:ext cx="5074920" cy="5349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568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7B879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구조 개요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중앙을 지키는 방어형 아레나 구조</a:t>
            </a:r>
            <a:endParaRPr lang="en-US" sz="1050" dirty="0"/>
          </a:p>
        </p:txBody>
      </p:sp>
      <p:pic>
        <p:nvPicPr>
          <p:cNvPr id="4" name="Image 0" descr="/mnt/data/중앙_거점_웨이브_슈터_아레나_맵.png">    </p:cNvPr>
          <p:cNvPicPr>
            <a:picLocks noChangeAspect="1"/>
          </p:cNvPicPr>
          <p:nvPr/>
        </p:nvPicPr>
        <p:blipFill>
          <a:blip r:embed="rId1"/>
          <a:srcRect l="0" r="0" t="327" b="327"/>
          <a:stretch/>
        </p:blipFill>
        <p:spPr>
          <a:xfrm>
            <a:off x="411480" y="1051560"/>
            <a:ext cx="6995160" cy="5212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051560"/>
            <a:ext cx="4069080" cy="5212080"/>
          </a:xfrm>
          <a:prstGeom prst="roundRect">
            <a:avLst>
              <a:gd name="adj" fmla="val 2022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99832" y="1161288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수치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882128" y="1536192"/>
            <a:ext cx="35204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28432" y="162763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맵</a:t>
            </a:r>
            <a:endParaRPr lang="en-US" sz="730" dirty="0"/>
          </a:p>
        </p:txBody>
      </p:sp>
      <p:sp>
        <p:nvSpPr>
          <p:cNvPr id="9" name="Text 6"/>
          <p:cNvSpPr/>
          <p:nvPr/>
        </p:nvSpPr>
        <p:spPr>
          <a:xfrm>
            <a:off x="9070848" y="160934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5E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40m × 30m</a:t>
            </a:r>
            <a:endParaRPr lang="en-US" sz="830" dirty="0"/>
          </a:p>
        </p:txBody>
      </p:sp>
      <p:sp>
        <p:nvSpPr>
          <p:cNvPr id="10" name="Text 7"/>
          <p:cNvSpPr/>
          <p:nvPr/>
        </p:nvSpPr>
        <p:spPr>
          <a:xfrm>
            <a:off x="10104120" y="1609344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 공간 약 1,200㎡</a:t>
            </a:r>
            <a:endParaRPr lang="en-US" sz="620" dirty="0"/>
          </a:p>
        </p:txBody>
      </p:sp>
      <p:sp>
        <p:nvSpPr>
          <p:cNvPr id="11" name="Shape 8"/>
          <p:cNvSpPr/>
          <p:nvPr/>
        </p:nvSpPr>
        <p:spPr>
          <a:xfrm>
            <a:off x="7882128" y="2194560"/>
            <a:ext cx="3520440" cy="530352"/>
          </a:xfrm>
          <a:prstGeom prst="roundRect">
            <a:avLst>
              <a:gd name="adj" fmla="val 8621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28432" y="2286000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전투 링</a:t>
            </a:r>
            <a:endParaRPr lang="en-US" sz="730" dirty="0"/>
          </a:p>
        </p:txBody>
      </p:sp>
      <p:sp>
        <p:nvSpPr>
          <p:cNvPr id="13" name="Text 10"/>
          <p:cNvSpPr/>
          <p:nvPr/>
        </p:nvSpPr>
        <p:spPr>
          <a:xfrm>
            <a:off x="9070848" y="226771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5E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반경 6m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10104120" y="2267712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회전·회피 중심 공간</a:t>
            </a:r>
            <a:endParaRPr lang="en-US" sz="620" dirty="0"/>
          </a:p>
        </p:txBody>
      </p:sp>
      <p:sp>
        <p:nvSpPr>
          <p:cNvPr id="15" name="Shape 12"/>
          <p:cNvSpPr/>
          <p:nvPr/>
        </p:nvSpPr>
        <p:spPr>
          <a:xfrm>
            <a:off x="7882128" y="2852928"/>
            <a:ext cx="35204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28432" y="2944368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안전 구역</a:t>
            </a:r>
            <a:endParaRPr lang="en-US" sz="730" dirty="0"/>
          </a:p>
        </p:txBody>
      </p:sp>
      <p:sp>
        <p:nvSpPr>
          <p:cNvPr id="17" name="Text 14"/>
          <p:cNvSpPr/>
          <p:nvPr/>
        </p:nvSpPr>
        <p:spPr>
          <a:xfrm>
            <a:off x="9070848" y="292608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5E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반경 3m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10104120" y="2926080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시작/보스 출현 지점</a:t>
            </a:r>
            <a:endParaRPr lang="en-US" sz="620" dirty="0"/>
          </a:p>
        </p:txBody>
      </p:sp>
      <p:sp>
        <p:nvSpPr>
          <p:cNvPr id="19" name="Shape 16"/>
          <p:cNvSpPr/>
          <p:nvPr/>
        </p:nvSpPr>
        <p:spPr>
          <a:xfrm>
            <a:off x="7882128" y="3511296"/>
            <a:ext cx="3520440" cy="530352"/>
          </a:xfrm>
          <a:prstGeom prst="roundRect">
            <a:avLst>
              <a:gd name="adj" fmla="val 8621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28432" y="360273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 거리</a:t>
            </a:r>
            <a:endParaRPr lang="en-US" sz="730" dirty="0"/>
          </a:p>
        </p:txBody>
      </p:sp>
      <p:sp>
        <p:nvSpPr>
          <p:cNvPr id="21" name="Text 18"/>
          <p:cNvSpPr/>
          <p:nvPr/>
        </p:nvSpPr>
        <p:spPr>
          <a:xfrm>
            <a:off x="9070848" y="35844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기준 15~20m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10104120" y="3584448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조준·대응 시간 확보</a:t>
            </a:r>
            <a:endParaRPr lang="en-US" sz="620" dirty="0"/>
          </a:p>
        </p:txBody>
      </p:sp>
      <p:sp>
        <p:nvSpPr>
          <p:cNvPr id="23" name="Shape 20"/>
          <p:cNvSpPr/>
          <p:nvPr/>
        </p:nvSpPr>
        <p:spPr>
          <a:xfrm>
            <a:off x="7882128" y="4169664"/>
            <a:ext cx="35204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28432" y="426110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엄폐물</a:t>
            </a:r>
            <a:endParaRPr lang="en-US" sz="730" dirty="0"/>
          </a:p>
        </p:txBody>
      </p:sp>
      <p:sp>
        <p:nvSpPr>
          <p:cNvPr id="25" name="Text 22"/>
          <p:cNvSpPr/>
          <p:nvPr/>
        </p:nvSpPr>
        <p:spPr>
          <a:xfrm>
            <a:off x="9070848" y="424281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</a:t>
            </a:r>
            <a:endParaRPr lang="en-US" sz="830" dirty="0"/>
          </a:p>
        </p:txBody>
      </p:sp>
      <p:sp>
        <p:nvSpPr>
          <p:cNvPr id="26" name="Text 23"/>
          <p:cNvSpPr/>
          <p:nvPr/>
        </p:nvSpPr>
        <p:spPr>
          <a:xfrm>
            <a:off x="10104120" y="4242816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4방향 × 3개 기준</a:t>
            </a:r>
            <a:endParaRPr lang="en-US" sz="620" dirty="0"/>
          </a:p>
        </p:txBody>
      </p:sp>
      <p:sp>
        <p:nvSpPr>
          <p:cNvPr id="27" name="Shape 24"/>
          <p:cNvSpPr/>
          <p:nvPr/>
        </p:nvSpPr>
        <p:spPr>
          <a:xfrm>
            <a:off x="7882128" y="4828032"/>
            <a:ext cx="3520440" cy="530352"/>
          </a:xfrm>
          <a:prstGeom prst="roundRect">
            <a:avLst>
              <a:gd name="adj" fmla="val 8621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028432" y="491947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보급/회복</a:t>
            </a:r>
            <a:endParaRPr lang="en-US" sz="730" dirty="0"/>
          </a:p>
        </p:txBody>
      </p:sp>
      <p:sp>
        <p:nvSpPr>
          <p:cNvPr id="29" name="Text 26"/>
          <p:cNvSpPr/>
          <p:nvPr/>
        </p:nvSpPr>
        <p:spPr>
          <a:xfrm>
            <a:off x="9070848" y="490118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2개, 회복 2개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10104120" y="4901184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동·서 보급 / 북동·남서 회복</a:t>
            </a:r>
            <a:endParaRPr lang="en-US" sz="620" dirty="0"/>
          </a:p>
        </p:txBody>
      </p:sp>
      <p:sp>
        <p:nvSpPr>
          <p:cNvPr id="31" name="Text 28"/>
          <p:cNvSpPr/>
          <p:nvPr/>
        </p:nvSpPr>
        <p:spPr>
          <a:xfrm>
            <a:off x="7909560" y="5577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1m = 100 Unreal Unit 기준으로 제작하면, 맵 크기는 4000uu × 3000uu로 잡으면 됩니다.</a:t>
            </a:r>
            <a:endParaRPr lang="en-US" sz="7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568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7B879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라운드별 스폰 구성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라운드가 진행될수록 접근 방향과 압박을 증가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502920" cy="41148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61872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</a:t>
            </a:r>
            <a:endParaRPr lang="en-US" sz="720" dirty="0"/>
          </a:p>
        </p:txBody>
      </p:sp>
      <p:sp>
        <p:nvSpPr>
          <p:cNvPr id="6" name="Shape 4"/>
          <p:cNvSpPr/>
          <p:nvPr/>
        </p:nvSpPr>
        <p:spPr>
          <a:xfrm>
            <a:off x="1005840" y="1143000"/>
            <a:ext cx="1554480" cy="41148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26187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방향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2560320" y="1143000"/>
            <a:ext cx="3840480" cy="41148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261872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수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6400800" y="1143000"/>
            <a:ext cx="1143000" cy="41148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261872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적 수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543800" y="1143000"/>
            <a:ext cx="1234440" cy="41148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43800" y="126187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 간격</a:t>
            </a:r>
            <a:endParaRPr lang="en-US" sz="720" dirty="0"/>
          </a:p>
        </p:txBody>
      </p:sp>
      <p:sp>
        <p:nvSpPr>
          <p:cNvPr id="14" name="Shape 12"/>
          <p:cNvSpPr/>
          <p:nvPr/>
        </p:nvSpPr>
        <p:spPr>
          <a:xfrm>
            <a:off x="8778240" y="1143000"/>
            <a:ext cx="1234440" cy="41148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26187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시간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0012680" y="1143000"/>
            <a:ext cx="1097280" cy="41148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12680" y="1261872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난이도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502920" y="1645920"/>
            <a:ext cx="502920" cy="530352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175564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1R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005840" y="1645920"/>
            <a:ext cx="155448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17556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북, 남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560320" y="1645920"/>
            <a:ext cx="384048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175564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400800" y="1645920"/>
            <a:ext cx="114300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175564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543800" y="1645920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9520" y="175564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3.0초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8778240" y="1645920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175564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60초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10012680" y="1645920"/>
            <a:ext cx="109728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0" y="175564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02920" y="2304288"/>
            <a:ext cx="502920" cy="530352"/>
          </a:xfrm>
          <a:prstGeom prst="roundRect">
            <a:avLst>
              <a:gd name="adj" fmla="val 5455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241401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5E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2R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05840" y="2304288"/>
            <a:ext cx="155448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51560" y="241401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동, 서, 남, 북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560320" y="2304288"/>
            <a:ext cx="384048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24140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400800" y="2304288"/>
            <a:ext cx="114300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46520" y="24140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543800" y="2304288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89520" y="241401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2.6초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8778240" y="2304288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23960" y="241401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90초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0012680" y="2304288"/>
            <a:ext cx="109728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58400" y="241401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02920" y="2962656"/>
            <a:ext cx="502920" cy="530352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307238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7C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3R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005840" y="2962656"/>
            <a:ext cx="155448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51560" y="30723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동, 서, 남, 북 + 북동, 남서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2560320" y="2962656"/>
            <a:ext cx="384048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6040" y="30723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400800" y="2962656"/>
            <a:ext cx="114300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30723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543800" y="2962656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89520" y="30723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2.2초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778240" y="2962656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23960" y="30723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120초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0012680" y="2962656"/>
            <a:ext cx="109728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58400" y="3072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02920" y="3621024"/>
            <a:ext cx="502920" cy="530352"/>
          </a:xfrm>
          <a:prstGeom prst="roundRect">
            <a:avLst>
              <a:gd name="adj" fmla="val 5455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373075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E57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4R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1005840" y="3621024"/>
            <a:ext cx="155448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51560" y="3730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동, 서, 남, 북 + 북동, 북서, 남동, 남서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2560320" y="3621024"/>
            <a:ext cx="384048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606040" y="373075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400800" y="3621024"/>
            <a:ext cx="114300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46520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7543800" y="3621024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589520" y="373075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1.8초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8778240" y="3621024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823960" y="373075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150초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10012680" y="3621024"/>
            <a:ext cx="1097280" cy="530352"/>
          </a:xfrm>
          <a:prstGeom prst="roundRect">
            <a:avLst>
              <a:gd name="adj" fmla="val 5172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58400" y="37307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고난도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02920" y="4279392"/>
            <a:ext cx="502920" cy="530352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640" y="438912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5R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1005840" y="4279392"/>
            <a:ext cx="155448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51560" y="43891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보스 출현 + 소환몹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60320" y="4279392"/>
            <a:ext cx="384048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6060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6400800" y="4279392"/>
            <a:ext cx="114300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446520" y="438912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보스 1 + 12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7543800" y="4279392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589520" y="4389120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패턴제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8778240" y="4279392"/>
            <a:ext cx="123444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823960" y="4389120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180초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0012680" y="4279392"/>
            <a:ext cx="1097280" cy="530352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058400" y="438912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보스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02920" y="5230368"/>
            <a:ext cx="539496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67512" y="534009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밸런싱 기준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749808" y="5623560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수 = 기본 8 + 활성 방향 수 × 4  /  라운드 진행마다 스폰 간격 0.4초씩 단축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6172200" y="5230368"/>
            <a:ext cx="544068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36792" y="534009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 포인트</a:t>
            </a:r>
            <a:endParaRPr lang="en-US" sz="1150" dirty="0"/>
          </a:p>
        </p:txBody>
      </p:sp>
      <p:sp>
        <p:nvSpPr>
          <p:cNvPr id="93" name="Text 91"/>
          <p:cNvSpPr/>
          <p:nvPr/>
        </p:nvSpPr>
        <p:spPr>
          <a:xfrm>
            <a:off x="6419088" y="5623560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적 증가가 아니라 “접근 방향 증가”로 난이도가 올라가는 구조라 설계 의도가 명확합니다.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568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7B879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 좌표 및 거리 설계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언리얼 배치 기준: 1m = 100uu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3108960" y="2743200"/>
            <a:ext cx="1371600" cy="1371600"/>
          </a:xfrm>
          <a:prstGeom prst="ellipse">
            <a:avLst/>
          </a:prstGeom>
          <a:solidFill>
            <a:srgbClr val="EAF3FF"/>
          </a:solidFill>
          <a:ln w="25400">
            <a:solidFill>
              <a:srgbClr val="1F5E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383280" y="320040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E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F5E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(0,0)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0" y="1280160"/>
            <a:ext cx="274320" cy="27432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10241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410712" y="160020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1R~4R</a:t>
            </a:r>
            <a:endParaRPr lang="en-US" sz="620" dirty="0"/>
          </a:p>
        </p:txBody>
      </p:sp>
      <p:sp>
        <p:nvSpPr>
          <p:cNvPr id="9" name="Shape 7"/>
          <p:cNvSpPr/>
          <p:nvPr/>
        </p:nvSpPr>
        <p:spPr>
          <a:xfrm>
            <a:off x="3657600" y="5394960"/>
            <a:ext cx="274320" cy="27432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51389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410712" y="571500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1R~4R</a:t>
            </a:r>
            <a:endParaRPr lang="en-US" sz="620" dirty="0"/>
          </a:p>
        </p:txBody>
      </p:sp>
      <p:sp>
        <p:nvSpPr>
          <p:cNvPr id="12" name="Shape 10"/>
          <p:cNvSpPr/>
          <p:nvPr/>
        </p:nvSpPr>
        <p:spPr>
          <a:xfrm>
            <a:off x="5852160" y="3291840"/>
            <a:ext cx="274320" cy="27432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30358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605272" y="361188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2R~4R</a:t>
            </a:r>
            <a:endParaRPr lang="en-US" sz="620" dirty="0"/>
          </a:p>
        </p:txBody>
      </p:sp>
      <p:sp>
        <p:nvSpPr>
          <p:cNvPr id="15" name="Shape 13"/>
          <p:cNvSpPr/>
          <p:nvPr/>
        </p:nvSpPr>
        <p:spPr>
          <a:xfrm>
            <a:off x="1463040" y="3291840"/>
            <a:ext cx="274320" cy="27432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30358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216152" y="361188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2R~4R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5303520" y="1737360"/>
            <a:ext cx="274320" cy="27432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4813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북동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56632" y="205740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3R~4R</a:t>
            </a:r>
            <a:endParaRPr lang="en-US" sz="620" dirty="0"/>
          </a:p>
        </p:txBody>
      </p:sp>
      <p:sp>
        <p:nvSpPr>
          <p:cNvPr id="21" name="Shape 19"/>
          <p:cNvSpPr/>
          <p:nvPr/>
        </p:nvSpPr>
        <p:spPr>
          <a:xfrm>
            <a:off x="2011680" y="4846320"/>
            <a:ext cx="274320" cy="27432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0" y="459028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764792" y="516636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3R~4R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2011680" y="1737360"/>
            <a:ext cx="274320" cy="27432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28800" y="14813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764792" y="205740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4R</a:t>
            </a:r>
            <a:endParaRPr lang="en-US" sz="620" dirty="0"/>
          </a:p>
        </p:txBody>
      </p:sp>
      <p:sp>
        <p:nvSpPr>
          <p:cNvPr id="27" name="Shape 25"/>
          <p:cNvSpPr/>
          <p:nvPr/>
        </p:nvSpPr>
        <p:spPr>
          <a:xfrm>
            <a:off x="5303520" y="4846320"/>
            <a:ext cx="274320" cy="27432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459028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남동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056632" y="516636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4R</a:t>
            </a:r>
            <a:endParaRPr lang="en-US" sz="620" dirty="0"/>
          </a:p>
        </p:txBody>
      </p:sp>
      <p:sp>
        <p:nvSpPr>
          <p:cNvPr id="30" name="Shape 28"/>
          <p:cNvSpPr/>
          <p:nvPr/>
        </p:nvSpPr>
        <p:spPr>
          <a:xfrm>
            <a:off x="7360920" y="1051560"/>
            <a:ext cx="4389120" cy="516636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25512" y="1161288"/>
            <a:ext cx="405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표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635240" y="1508760"/>
            <a:ext cx="38404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4112" y="1600200"/>
            <a:ext cx="3520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Spawn_N  |  (0, +1500uu)  |  북 / 1~4R</a:t>
            </a:r>
            <a:endParaRPr lang="en-US" sz="610" dirty="0"/>
          </a:p>
        </p:txBody>
      </p:sp>
      <p:sp>
        <p:nvSpPr>
          <p:cNvPr id="34" name="Shape 32"/>
          <p:cNvSpPr/>
          <p:nvPr/>
        </p:nvSpPr>
        <p:spPr>
          <a:xfrm>
            <a:off x="7635240" y="1975104"/>
            <a:ext cx="3840480" cy="384048"/>
          </a:xfrm>
          <a:prstGeom prst="roundRect">
            <a:avLst>
              <a:gd name="adj" fmla="val 7143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54112" y="2066544"/>
            <a:ext cx="3520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Spawn_S  |  (0, -1500uu)  |  남 / 1~4R</a:t>
            </a:r>
            <a:endParaRPr lang="en-US" sz="610" dirty="0"/>
          </a:p>
        </p:txBody>
      </p:sp>
      <p:sp>
        <p:nvSpPr>
          <p:cNvPr id="36" name="Shape 34"/>
          <p:cNvSpPr/>
          <p:nvPr/>
        </p:nvSpPr>
        <p:spPr>
          <a:xfrm>
            <a:off x="7635240" y="2441448"/>
            <a:ext cx="38404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54112" y="2532888"/>
            <a:ext cx="3520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Spawn_E  |  (+2000, 0uu)  |  동 / 2~4R</a:t>
            </a:r>
            <a:endParaRPr lang="en-US" sz="610" dirty="0"/>
          </a:p>
        </p:txBody>
      </p:sp>
      <p:sp>
        <p:nvSpPr>
          <p:cNvPr id="38" name="Shape 36"/>
          <p:cNvSpPr/>
          <p:nvPr/>
        </p:nvSpPr>
        <p:spPr>
          <a:xfrm>
            <a:off x="7635240" y="2907792"/>
            <a:ext cx="3840480" cy="384048"/>
          </a:xfrm>
          <a:prstGeom prst="roundRect">
            <a:avLst>
              <a:gd name="adj" fmla="val 7143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54112" y="2999232"/>
            <a:ext cx="3520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Spawn_W  |  (-2000, 0uu)  |  서 / 2~4R</a:t>
            </a:r>
            <a:endParaRPr lang="en-US" sz="610" dirty="0"/>
          </a:p>
        </p:txBody>
      </p:sp>
      <p:sp>
        <p:nvSpPr>
          <p:cNvPr id="40" name="Shape 38"/>
          <p:cNvSpPr/>
          <p:nvPr/>
        </p:nvSpPr>
        <p:spPr>
          <a:xfrm>
            <a:off x="7635240" y="3374136"/>
            <a:ext cx="38404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54112" y="3465576"/>
            <a:ext cx="3520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Spawn_NE  |  (+1600, +1200)  |  북동 / 3~4R</a:t>
            </a:r>
            <a:endParaRPr lang="en-US" sz="610" dirty="0"/>
          </a:p>
        </p:txBody>
      </p:sp>
      <p:sp>
        <p:nvSpPr>
          <p:cNvPr id="42" name="Shape 40"/>
          <p:cNvSpPr/>
          <p:nvPr/>
        </p:nvSpPr>
        <p:spPr>
          <a:xfrm>
            <a:off x="7635240" y="3840480"/>
            <a:ext cx="3840480" cy="384048"/>
          </a:xfrm>
          <a:prstGeom prst="roundRect">
            <a:avLst>
              <a:gd name="adj" fmla="val 7143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54112" y="3931920"/>
            <a:ext cx="3520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Spawn_SW  |  (-1600, -1200)  |  남서 / 3~4R</a:t>
            </a:r>
            <a:endParaRPr lang="en-US" sz="610" dirty="0"/>
          </a:p>
        </p:txBody>
      </p:sp>
      <p:sp>
        <p:nvSpPr>
          <p:cNvPr id="44" name="Shape 42"/>
          <p:cNvSpPr/>
          <p:nvPr/>
        </p:nvSpPr>
        <p:spPr>
          <a:xfrm>
            <a:off x="7635240" y="4306824"/>
            <a:ext cx="38404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54112" y="4398264"/>
            <a:ext cx="3520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Spawn_NW  |  (-1600, +1200)  |  북서 / 4R</a:t>
            </a:r>
            <a:endParaRPr lang="en-US" sz="610" dirty="0"/>
          </a:p>
        </p:txBody>
      </p:sp>
      <p:sp>
        <p:nvSpPr>
          <p:cNvPr id="46" name="Shape 44"/>
          <p:cNvSpPr/>
          <p:nvPr/>
        </p:nvSpPr>
        <p:spPr>
          <a:xfrm>
            <a:off x="7635240" y="4773168"/>
            <a:ext cx="3840480" cy="384048"/>
          </a:xfrm>
          <a:prstGeom prst="roundRect">
            <a:avLst>
              <a:gd name="adj" fmla="val 7143"/>
            </a:avLst>
          </a:prstGeom>
          <a:solidFill>
            <a:srgbClr val="F8FBFF"/>
          </a:solidFill>
          <a:ln w="6350">
            <a:solidFill>
              <a:srgbClr val="D8E1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54112" y="4864608"/>
            <a:ext cx="3520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Spawn_SE  |  (+1600, -1200)  |  남동 / 4R</a:t>
            </a:r>
            <a:endParaRPr lang="en-US" sz="610" dirty="0"/>
          </a:p>
        </p:txBody>
      </p:sp>
      <p:sp>
        <p:nvSpPr>
          <p:cNvPr id="48" name="Text 46"/>
          <p:cNvSpPr/>
          <p:nvPr/>
        </p:nvSpPr>
        <p:spPr>
          <a:xfrm>
            <a:off x="7635240" y="5486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보스는 BossSpawn_Center = (0, 0, 0)에서 생성하고, 등장 연출용으로 2~3초 지연 후 AI를 활성화합니다.</a:t>
            </a:r>
            <a:endParaRPr lang="en-US" sz="7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568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7B879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엄폐물·아이템 수치 설계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유지가 가능하도록 안전 구역과 위험 구역을 나누기</a:t>
            </a:r>
            <a:endParaRPr lang="en-US" sz="1050" dirty="0"/>
          </a:p>
        </p:txBody>
      </p:sp>
      <p:pic>
        <p:nvPicPr>
          <p:cNvPr id="4" name="Image 0" descr="/mnt/data/중앙_거점_웨이브_슈터_아레나_맵.png">    </p:cNvPr>
          <p:cNvPicPr>
            <a:picLocks noChangeAspect="1"/>
          </p:cNvPicPr>
          <p:nvPr/>
        </p:nvPicPr>
        <p:blipFill>
          <a:blip r:embed="rId1"/>
          <a:srcRect l="8518" r="8518" t="0" b="0"/>
          <a:stretch/>
        </p:blipFill>
        <p:spPr>
          <a:xfrm>
            <a:off x="411480" y="1051560"/>
            <a:ext cx="5715000" cy="5166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0" y="1051560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65392" y="116128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엄폐물 배치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693408" y="148132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수량: 낮은 엄폐물 8개 + 높은 엄폐물 4개 = 총 12개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693408" y="18105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링 바깥 4분면에 균등 배치. 플레이어가 한 곳에 고정되지 않도록 링 형태로 회전 이동을 유도합니다.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6400800" y="2697480"/>
            <a:ext cx="24231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65392" y="2807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엄폐물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537960" y="3108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E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269480" y="313639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높이 1.0m · 사격 가능</a:t>
            </a:r>
            <a:endParaRPr lang="en-US" sz="680" dirty="0"/>
          </a:p>
        </p:txBody>
      </p:sp>
      <p:sp>
        <p:nvSpPr>
          <p:cNvPr id="13" name="Shape 10"/>
          <p:cNvSpPr/>
          <p:nvPr/>
        </p:nvSpPr>
        <p:spPr>
          <a:xfrm>
            <a:off x="9052560" y="2697480"/>
            <a:ext cx="2423160" cy="914400"/>
          </a:xfrm>
          <a:prstGeom prst="roundRect">
            <a:avLst>
              <a:gd name="adj" fmla="val 9000"/>
            </a:avLst>
          </a:prstGeom>
          <a:solidFill>
            <a:srgbClr val="F8FB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217152" y="2807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엄폐물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189720" y="3108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921240" y="313639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높이 2.0m · 완전 보호</a:t>
            </a:r>
            <a:endParaRPr lang="en-US" sz="680" dirty="0"/>
          </a:p>
        </p:txBody>
      </p:sp>
      <p:sp>
        <p:nvSpPr>
          <p:cNvPr id="17" name="Shape 14"/>
          <p:cNvSpPr/>
          <p:nvPr/>
        </p:nvSpPr>
        <p:spPr>
          <a:xfrm>
            <a:off x="6400800" y="3794760"/>
            <a:ext cx="24231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65392" y="390448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링 폭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537960" y="420624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E57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2.5m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269480" y="42336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이동 · 점프 금지</a:t>
            </a:r>
            <a:endParaRPr lang="en-US" sz="680" dirty="0"/>
          </a:p>
        </p:txBody>
      </p:sp>
      <p:sp>
        <p:nvSpPr>
          <p:cNvPr id="21" name="Shape 18"/>
          <p:cNvSpPr/>
          <p:nvPr/>
        </p:nvSpPr>
        <p:spPr>
          <a:xfrm>
            <a:off x="9052560" y="3794760"/>
            <a:ext cx="2423160" cy="914400"/>
          </a:xfrm>
          <a:prstGeom prst="roundRect">
            <a:avLst>
              <a:gd name="adj" fmla="val 9000"/>
            </a:avLst>
          </a:prstGeom>
          <a:solidFill>
            <a:srgbClr val="F8FB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17152" y="390448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외곽 통로 폭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189720" y="420624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4.0m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921240" y="42336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진입 · 끼임 방지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6400800" y="5074920"/>
            <a:ext cx="530352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65392" y="518464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 배치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675120" y="5486400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상자 2개: 동·서 내부 통로 / 회복 아이템 2개: 북동·남서 내부 엄폐 구역</a:t>
            </a:r>
            <a:endParaRPr lang="en-US" sz="860" dirty="0"/>
          </a:p>
        </p:txBody>
      </p:sp>
      <p:sp>
        <p:nvSpPr>
          <p:cNvPr id="28" name="Text 25"/>
          <p:cNvSpPr/>
          <p:nvPr/>
        </p:nvSpPr>
        <p:spPr>
          <a:xfrm>
            <a:off x="6675120" y="579729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리스폰: 보급 45초, 회복 60초. 5R 보스전 시작 시 1회 강제 리필.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568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7B879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언리얼 구현 구조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Blueprint 중심으로 빠르게 구현하고, 핵심 로직만 C++ 전환 가능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94360" y="1097280"/>
            <a:ext cx="5166360" cy="59436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207008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BP_WaveManager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0280" y="1307592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 시작/종료, 적 수 관리, 스폰 방향 활성화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810512"/>
            <a:ext cx="5166360" cy="594360"/>
          </a:xfrm>
          <a:prstGeom prst="roundRect">
            <a:avLst>
              <a:gd name="adj" fmla="val 13846"/>
            </a:avLst>
          </a:prstGeom>
          <a:solidFill>
            <a:srgbClr val="F8FB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920240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BP_SpawnPoint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240280" y="2020824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태그, 라운드 활성 조건, 스폰 위치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94360" y="2523744"/>
            <a:ext cx="5166360" cy="59436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263347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BP_EnemyBase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40280" y="2734056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체력, 이동, 공격, 사망 이벤트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94360" y="3236976"/>
            <a:ext cx="5166360" cy="594360"/>
          </a:xfrm>
          <a:prstGeom prst="roundRect">
            <a:avLst>
              <a:gd name="adj" fmla="val 13846"/>
            </a:avLst>
          </a:prstGeom>
          <a:solidFill>
            <a:srgbClr val="F8FB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3346704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BP_BossEnemy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240280" y="344728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5R 보스 패턴, 체력바, 소환몹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94360" y="3950208"/>
            <a:ext cx="5166360" cy="59436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" y="4059936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BP_PlayerCharacter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240280" y="4160520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이동, 조준, 발사, 피격 처리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4360" y="4663440"/>
            <a:ext cx="5166360" cy="594360"/>
          </a:xfrm>
          <a:prstGeom prst="roundRect">
            <a:avLst>
              <a:gd name="adj" fmla="val 13846"/>
            </a:avLst>
          </a:prstGeom>
          <a:solidFill>
            <a:srgbClr val="F8FB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" y="4773168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WBP_HUD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240280" y="4873752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체력, 탄약, 라운드, 남은 적 수 표시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2344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F5EA8"/>
          </a:solidFill>
          <a:ln w="12700">
            <a:solidFill>
              <a:srgbClr val="1F5E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3441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Round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315200" y="1737360"/>
            <a:ext cx="0" cy="365760"/>
          </a:xfrm>
          <a:prstGeom prst="line">
            <a:avLst/>
          </a:prstGeom>
          <a:noFill/>
          <a:ln w="25400">
            <a:solidFill>
              <a:srgbClr val="546A7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00800" y="2103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2128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Activate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 Tags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15200" y="2606040"/>
            <a:ext cx="0" cy="365760"/>
          </a:xfrm>
          <a:prstGeom prst="line">
            <a:avLst/>
          </a:prstGeom>
          <a:noFill/>
          <a:ln w="25400">
            <a:solidFill>
              <a:srgbClr val="546A7B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00800" y="2971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308152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Spawn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Enemies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315200" y="3474720"/>
            <a:ext cx="0" cy="365760"/>
          </a:xfrm>
          <a:prstGeom prst="line">
            <a:avLst/>
          </a:prstGeom>
          <a:noFill/>
          <a:ln w="25400">
            <a:solidFill>
              <a:srgbClr val="546A7B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00800" y="384048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395020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Kills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315200" y="4343400"/>
            <a:ext cx="0" cy="365760"/>
          </a:xfrm>
          <a:prstGeom prst="line">
            <a:avLst/>
          </a:prstGeom>
          <a:noFill/>
          <a:ln w="25400">
            <a:solidFill>
              <a:srgbClr val="546A7B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400800" y="470916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48188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Round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Boss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732520" y="1097280"/>
            <a:ext cx="2788920" cy="4480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97112" y="1207008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 데이터 예시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988552" y="1618488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0B1F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Round=1  Dirs=N,S  Count=12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0B1F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Round=2  Dirs=N,S,E,W  Count=20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0B1F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Round=3  +NE,SW  Count=28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0B1F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Round=4  +NW,SE  Count=36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0B1F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Round=5  BossCenter + Adds=12</a:t>
            </a:r>
            <a:endParaRPr lang="en-US" sz="780" dirty="0"/>
          </a:p>
        </p:txBody>
      </p:sp>
      <p:sp>
        <p:nvSpPr>
          <p:cNvPr id="39" name="Text 37"/>
          <p:cNvSpPr/>
          <p:nvPr/>
        </p:nvSpPr>
        <p:spPr>
          <a:xfrm>
            <a:off x="8988552" y="3154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DataTable로 라운드 정보를 관리하면, 적 수/스폰 간격/방향을 블루프린트에서 쉽게 조정할 수 있습니다.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8988552" y="42976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폴더 구조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Content/Blueprints/Wave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Content/Blueprints/Enemy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Content/Blueprints/UI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Content/Maps/Arena</a:t>
            </a:r>
            <a:endParaRPr lang="en-US" sz="7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568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7B879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체크리스트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 완성도를 높이는 우선순위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161288"/>
            <a:ext cx="384048" cy="384048"/>
          </a:xfrm>
          <a:prstGeom prst="ellipse">
            <a:avLst/>
          </a:prstGeom>
          <a:solidFill>
            <a:srgbClr val="1F5E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43584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70432" y="11430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블록아웃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71800" y="116128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4000uu × 3000uu 크기로 바닥/벽/중앙 링부터 제작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1F5E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29384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70432" y="18288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 포인트 배치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71800" y="184708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8방향 SpawnPoint Actor 배치 + Direction Tag 설정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40080" y="2532888"/>
            <a:ext cx="384048" cy="38404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15184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70432" y="25146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웨이브 매니저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71800" y="253288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라운드별 활성 방향, 적 수, 스폰 간격 DataTable화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40080" y="3218688"/>
            <a:ext cx="384048" cy="38404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300984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70432" y="32004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 루프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71800" y="321868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사망 카운트 → 라운드 클리어 → 다음 라운드 시작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640080" y="3904488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986784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70432" y="38862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5R 보스전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71800" y="390448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보스 등장 연출, 체력바, 패턴 2~3개 구현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40080" y="4590288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72584"/>
            <a:ext cx="3840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45720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UI/사운드/VFX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71800" y="459028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 알림, 피격 이펙트, 스폰 경고 표시 추가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7315200" y="1143000"/>
            <a:ext cx="4297680" cy="443484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79792" y="1252728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목표 스펙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635240" y="1645920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08392" y="173736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E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8~10분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08392" y="2057400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 타임</a:t>
            </a:r>
            <a:endParaRPr lang="en-US" sz="680" dirty="0"/>
          </a:p>
        </p:txBody>
      </p:sp>
      <p:sp>
        <p:nvSpPr>
          <p:cNvPr id="33" name="Shape 31"/>
          <p:cNvSpPr/>
          <p:nvPr/>
        </p:nvSpPr>
        <p:spPr>
          <a:xfrm>
            <a:off x="9509760" y="1645920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82912" y="173736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582912" y="2057400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 수</a:t>
            </a:r>
            <a:endParaRPr lang="en-US" sz="680" dirty="0"/>
          </a:p>
        </p:txBody>
      </p:sp>
      <p:sp>
        <p:nvSpPr>
          <p:cNvPr id="36" name="Shape 34"/>
          <p:cNvSpPr/>
          <p:nvPr/>
        </p:nvSpPr>
        <p:spPr>
          <a:xfrm>
            <a:off x="7635240" y="2450592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08392" y="254203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7C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기본/빠른/탱커/보스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708392" y="2862072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종류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9509760" y="2450592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82912" y="254203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E57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8방향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582912" y="2862072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 방향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635240" y="3255264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08392" y="3346704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체력·탄약·라운드·남은 적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708392" y="3666744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9509760" y="3255264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82912" y="3346704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라운드별 방향 증가, 5R 보스 등장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582912" y="3666744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포인트</a:t>
            </a:r>
            <a:endParaRPr lang="en-US" sz="680" dirty="0"/>
          </a:p>
        </p:txBody>
      </p:sp>
      <p:sp>
        <p:nvSpPr>
          <p:cNvPr id="48" name="Text 46"/>
          <p:cNvSpPr/>
          <p:nvPr/>
        </p:nvSpPr>
        <p:spPr>
          <a:xfrm>
            <a:off x="7635240" y="4709160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구조는 “랜덤 적을 잡는 게임”보다 더 명확하게 보입니다.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546A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 영상에서는 라운드별로 접근 방향이 늘어나는 장면을 꼭 보여주는 게 좋아요.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568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7B879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중앙 거점 웨이브 슈터 맵 설계</dc:title>
  <dc:subject>Unreal Engine Wave Shooter Arena Map Plan</dc:subject>
  <dc:creator>OpenAI</dc:creator>
  <cp:lastModifiedBy>OpenAI</cp:lastModifiedBy>
  <cp:revision>1</cp:revision>
  <dcterms:created xsi:type="dcterms:W3CDTF">2026-06-30T00:38:23Z</dcterms:created>
  <dcterms:modified xsi:type="dcterms:W3CDTF">2026-06-30T00:38:23Z</dcterms:modified>
</cp:coreProperties>
</file>