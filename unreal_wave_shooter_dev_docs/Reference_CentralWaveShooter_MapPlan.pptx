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식 오" userId="6f706a2546da6741" providerId="LiveId" clId="{99ADACEA-EB11-4228-AA62-D35239565F35}"/>
    <pc:docChg chg="modSld">
      <pc:chgData name="성식 오" userId="6f706a2546da6741" providerId="LiveId" clId="{99ADACEA-EB11-4228-AA62-D35239565F35}" dt="2026-07-01T13:28:03.419" v="0" actId="1076"/>
      <pc:docMkLst>
        <pc:docMk/>
      </pc:docMkLst>
      <pc:sldChg chg="modSp mod">
        <pc:chgData name="성식 오" userId="6f706a2546da6741" providerId="LiveId" clId="{99ADACEA-EB11-4228-AA62-D35239565F35}" dt="2026-07-01T13:28:03.419" v="0" actId="1076"/>
        <pc:sldMkLst>
          <pc:docMk/>
          <pc:sldMk cId="0" sldId="260"/>
        </pc:sldMkLst>
        <pc:picChg chg="mod">
          <ac:chgData name="성식 오" userId="6f706a2546da6741" providerId="LiveId" clId="{99ADACEA-EB11-4228-AA62-D35239565F35}" dt="2026-07-01T13:28:03.419" v="0" actId="1076"/>
          <ac:picMkLst>
            <pc:docMk/>
            <pc:sldMk cId="0" sldId="260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28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65683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Unreal Engine Arena Shooter · Level Design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거점 웨이브 슈터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설계 PPT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874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언리얼 엔진 3인칭 아레나 슈터 · 중앙 방어형 웨이브 전투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2450592"/>
            <a:ext cx="49377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86384" y="2560320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핵심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플레이어는 중앙에서 시작하고, 라운드별로 늘어나는 방향의 적을 처치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1R 북·남 → 2R 사방 → 3R 대각선 2개 추가 → 4R 8방향 → 5R 중앙 보스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맵 크기, 스폰 거리, 엄폐물 수량까지 구현 기준으로 수치화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13232" y="498348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40m × 30m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53035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맵 크기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148840" y="4892040"/>
            <a:ext cx="1051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21992" y="498348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8방향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21992" y="530352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 방향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3383280" y="4892040"/>
            <a:ext cx="960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56432" y="498348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5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56432" y="5303520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라운드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4526280" y="489204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99432" y="498348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8~10분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99432" y="530352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플레이</a:t>
            </a:r>
            <a:endParaRPr lang="en-US" sz="680" dirty="0"/>
          </a:p>
        </p:txBody>
      </p:sp>
      <p:pic>
        <p:nvPicPr>
          <p:cNvPr id="21" name="Image 0" descr="/mnt/data/중앙_거점_웨이브_슈터_아레나_맵.png"/>
          <p:cNvPicPr>
            <a:picLocks noChangeAspect="1"/>
          </p:cNvPicPr>
          <p:nvPr/>
        </p:nvPicPr>
        <p:blipFill>
          <a:blip r:embed="rId3"/>
          <a:srcRect l="14423" r="14423"/>
          <a:stretch/>
        </p:blipFill>
        <p:spPr>
          <a:xfrm>
            <a:off x="6537960" y="594360"/>
            <a:ext cx="507492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구조 개요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중앙을 지키는 방어형 아레나 구조</a:t>
            </a:r>
            <a:endParaRPr lang="en-US" sz="1050" dirty="0"/>
          </a:p>
        </p:txBody>
      </p:sp>
      <p:pic>
        <p:nvPicPr>
          <p:cNvPr id="4" name="Image 0" descr="/mnt/data/중앙_거점_웨이브_슈터_아레나_맵.png"/>
          <p:cNvPicPr>
            <a:picLocks noChangeAspect="1"/>
          </p:cNvPicPr>
          <p:nvPr/>
        </p:nvPicPr>
        <p:blipFill>
          <a:blip r:embed="rId3"/>
          <a:srcRect t="327" b="327"/>
          <a:stretch/>
        </p:blipFill>
        <p:spPr>
          <a:xfrm>
            <a:off x="411480" y="1051560"/>
            <a:ext cx="699516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051560"/>
            <a:ext cx="4069080" cy="5212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799832" y="1161288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수치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82128" y="1536192"/>
            <a:ext cx="3520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028432" y="162763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맵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9070848" y="16093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40m × 30m</a:t>
            </a:r>
            <a:endParaRPr lang="en-US" sz="830" dirty="0"/>
          </a:p>
        </p:txBody>
      </p:sp>
      <p:sp>
        <p:nvSpPr>
          <p:cNvPr id="10" name="Text 7"/>
          <p:cNvSpPr/>
          <p:nvPr/>
        </p:nvSpPr>
        <p:spPr>
          <a:xfrm>
            <a:off x="10104120" y="160934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공간 약 1,200㎡</a:t>
            </a:r>
            <a:endParaRPr lang="en-US" sz="620" dirty="0"/>
          </a:p>
        </p:txBody>
      </p:sp>
      <p:sp>
        <p:nvSpPr>
          <p:cNvPr id="11" name="Shape 8"/>
          <p:cNvSpPr/>
          <p:nvPr/>
        </p:nvSpPr>
        <p:spPr>
          <a:xfrm>
            <a:off x="7882128" y="2194560"/>
            <a:ext cx="3520440" cy="530352"/>
          </a:xfrm>
          <a:prstGeom prst="roundRect">
            <a:avLst>
              <a:gd name="adj" fmla="val 8621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028432" y="22860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전투 링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9070848" y="22677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6m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10104120" y="226771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회전·회피 중심 공간</a:t>
            </a:r>
            <a:endParaRPr lang="en-US" sz="620" dirty="0"/>
          </a:p>
        </p:txBody>
      </p:sp>
      <p:sp>
        <p:nvSpPr>
          <p:cNvPr id="15" name="Shape 12"/>
          <p:cNvSpPr/>
          <p:nvPr/>
        </p:nvSpPr>
        <p:spPr>
          <a:xfrm>
            <a:off x="7882128" y="2852928"/>
            <a:ext cx="3520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028432" y="294436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안전 구역</a:t>
            </a:r>
            <a:endParaRPr lang="en-US" sz="730" dirty="0"/>
          </a:p>
        </p:txBody>
      </p:sp>
      <p:sp>
        <p:nvSpPr>
          <p:cNvPr id="17" name="Text 14"/>
          <p:cNvSpPr/>
          <p:nvPr/>
        </p:nvSpPr>
        <p:spPr>
          <a:xfrm>
            <a:off x="9070848" y="29260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3m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10104120" y="292608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시작/보스 출현 지점</a:t>
            </a:r>
            <a:endParaRPr lang="en-US" sz="620" dirty="0"/>
          </a:p>
        </p:txBody>
      </p:sp>
      <p:sp>
        <p:nvSpPr>
          <p:cNvPr id="19" name="Shape 16"/>
          <p:cNvSpPr/>
          <p:nvPr/>
        </p:nvSpPr>
        <p:spPr>
          <a:xfrm>
            <a:off x="7882128" y="3511296"/>
            <a:ext cx="3520440" cy="530352"/>
          </a:xfrm>
          <a:prstGeom prst="roundRect">
            <a:avLst>
              <a:gd name="adj" fmla="val 8621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028432" y="360273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 거리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9070848" y="35844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기준 15~20m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10104120" y="3584448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조준·대응 시간 확보</a:t>
            </a:r>
            <a:endParaRPr lang="en-US" sz="620" dirty="0"/>
          </a:p>
        </p:txBody>
      </p:sp>
      <p:sp>
        <p:nvSpPr>
          <p:cNvPr id="23" name="Shape 20"/>
          <p:cNvSpPr/>
          <p:nvPr/>
        </p:nvSpPr>
        <p:spPr>
          <a:xfrm>
            <a:off x="7882128" y="4169664"/>
            <a:ext cx="3520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8028432" y="42611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엄폐물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9070848" y="42428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10104120" y="4242816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4방향 × 3개 기준</a:t>
            </a:r>
            <a:endParaRPr lang="en-US" sz="620" dirty="0"/>
          </a:p>
        </p:txBody>
      </p:sp>
      <p:sp>
        <p:nvSpPr>
          <p:cNvPr id="27" name="Shape 24"/>
          <p:cNvSpPr/>
          <p:nvPr/>
        </p:nvSpPr>
        <p:spPr>
          <a:xfrm>
            <a:off x="7882128" y="4828032"/>
            <a:ext cx="3520440" cy="530352"/>
          </a:xfrm>
          <a:prstGeom prst="roundRect">
            <a:avLst>
              <a:gd name="adj" fmla="val 8621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8028432" y="49194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보급/회복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9070848" y="49011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보급 2개, 회복 2개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10104120" y="490118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동·서 보급 / 북동·남서 회복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7909560" y="5577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1m = 100 Unreal Unit 기준으로 제작하면, 맵 크기는 4000uu × 3000uu로 잡으면 됩니다.</a:t>
            </a:r>
            <a:endParaRPr lang="en-US" sz="7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라운드별 스폰 구성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라운드가 진행될수록 접근 방향과 압박을 증가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02920" cy="4114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1005840" y="1143000"/>
            <a:ext cx="1554480" cy="4114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방향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560320" y="1143000"/>
            <a:ext cx="3840480" cy="4114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560320" y="126187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수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6400800" y="1143000"/>
            <a:ext cx="1143000" cy="4114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0" y="126187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적 수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543800" y="1143000"/>
            <a:ext cx="1234440" cy="4114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543800" y="126187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 간격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8778240" y="1143000"/>
            <a:ext cx="1234440" cy="4114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78240" y="126187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시간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0012680" y="1143000"/>
            <a:ext cx="1097280" cy="4114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12680" y="12618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502920" y="1645920"/>
            <a:ext cx="502920" cy="5303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1755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05840" y="1645920"/>
            <a:ext cx="15544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17556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북, 남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560320" y="1645920"/>
            <a:ext cx="38404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606040" y="1755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00800" y="1645920"/>
            <a:ext cx="114300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46520" y="17556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543800" y="1645920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589520" y="17556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3.0초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778240" y="1645920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823960" y="17556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60초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0012680" y="1645920"/>
            <a:ext cx="10972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058400" y="17556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" y="2304288"/>
            <a:ext cx="502920" cy="530352"/>
          </a:xfrm>
          <a:prstGeom prst="roundRect">
            <a:avLst>
              <a:gd name="adj" fmla="val 5455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48640" y="24140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05840" y="2304288"/>
            <a:ext cx="155448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51560" y="24140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동, 서, 남, 북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560320" y="2304288"/>
            <a:ext cx="384048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606040" y="24140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400800" y="2304288"/>
            <a:ext cx="114300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46520" y="24140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543800" y="2304288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589520" y="241401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2.6초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778240" y="2304288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823960" y="241401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90초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012680" y="2304288"/>
            <a:ext cx="109728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10058400" y="24140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2920" y="2962656"/>
            <a:ext cx="502920" cy="5303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48640" y="30723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05840" y="2962656"/>
            <a:ext cx="15544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051560" y="30723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동, 서, 남, 북 + 북동, 남서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560320" y="2962656"/>
            <a:ext cx="38404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2606040" y="30723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400800" y="2962656"/>
            <a:ext cx="114300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446520" y="30723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543800" y="2962656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7589520" y="3072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2.2초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778240" y="2962656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8823960" y="30723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120초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0012680" y="2962656"/>
            <a:ext cx="10972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10058400" y="30723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02920" y="3621024"/>
            <a:ext cx="502920" cy="530352"/>
          </a:xfrm>
          <a:prstGeom prst="roundRect">
            <a:avLst>
              <a:gd name="adj" fmla="val 5455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48640" y="37307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E5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05840" y="3621024"/>
            <a:ext cx="155448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051560" y="3730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동, 서, 남, 북 + 북동, 북서, 남동, 남서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560320" y="3621024"/>
            <a:ext cx="384048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2606040" y="37307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400800" y="3621024"/>
            <a:ext cx="114300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6446520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543800" y="3621024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7589520" y="37307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1.8초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778240" y="3621024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8823960" y="37307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150초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0012680" y="3621024"/>
            <a:ext cx="1097280" cy="530352"/>
          </a:xfrm>
          <a:prstGeom prst="roundRect">
            <a:avLst>
              <a:gd name="adj" fmla="val 5172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10058400" y="3730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고난도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02920" y="4279392"/>
            <a:ext cx="502920" cy="5303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548640" y="43891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5R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05840" y="4279392"/>
            <a:ext cx="15544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1051560" y="4389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보스 출현 + 소환몹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60320" y="4279392"/>
            <a:ext cx="38404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2606040" y="43891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400800" y="4279392"/>
            <a:ext cx="114300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6446520" y="43891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1 + 12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543800" y="4279392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7589520" y="43891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패턴제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778240" y="4279392"/>
            <a:ext cx="123444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8823960" y="43891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180초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0012680" y="4279392"/>
            <a:ext cx="1097280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10058400" y="4389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02920" y="5230368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667512" y="534009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밸런싱 기준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749808" y="56235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수 = 기본 8 + 활성 방향 수 × 4  /  라운드 진행마다 스폰 간격 0.4초씩 단축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172200" y="5230368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6336792" y="5340096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포인트</a:t>
            </a:r>
            <a:endParaRPr lang="en-US" sz="1150" dirty="0"/>
          </a:p>
        </p:txBody>
      </p:sp>
      <p:sp>
        <p:nvSpPr>
          <p:cNvPr id="93" name="Text 91"/>
          <p:cNvSpPr/>
          <p:nvPr/>
        </p:nvSpPr>
        <p:spPr>
          <a:xfrm>
            <a:off x="6419088" y="562356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적 증가가 아니라 “접근 방향 증가”로 난이도가 올라가는 구조라 설계 의도가 명확합니다.</a:t>
            </a:r>
            <a:endParaRPr lang="en-US" sz="800" dirty="0"/>
          </a:p>
        </p:txBody>
      </p:sp>
      <p:sp>
        <p:nvSpPr>
          <p:cNvPr id="9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 좌표 및 거리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언리얼 배치 기준: 1m = 100uu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108960" y="2743200"/>
            <a:ext cx="1371600" cy="1371600"/>
          </a:xfrm>
          <a:prstGeom prst="ellipse">
            <a:avLst/>
          </a:prstGeom>
          <a:solidFill>
            <a:srgbClr val="EAF3FF"/>
          </a:solidFill>
          <a:ln w="25400">
            <a:solidFill>
              <a:srgbClr val="1F5E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383280" y="3200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(0,0)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1280160"/>
            <a:ext cx="274320" cy="27432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0" y="10241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410712" y="160020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1R~4R</a:t>
            </a:r>
            <a:endParaRPr lang="en-US" sz="620" dirty="0"/>
          </a:p>
        </p:txBody>
      </p:sp>
      <p:sp>
        <p:nvSpPr>
          <p:cNvPr id="9" name="Shape 7"/>
          <p:cNvSpPr/>
          <p:nvPr/>
        </p:nvSpPr>
        <p:spPr>
          <a:xfrm>
            <a:off x="3657600" y="5394960"/>
            <a:ext cx="274320" cy="27432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74720" y="5138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410712" y="571500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1R~4R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5852160" y="3291840"/>
            <a:ext cx="274320" cy="27432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69280" y="3035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05272" y="36118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2R~4R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1463040" y="3291840"/>
            <a:ext cx="274320" cy="27432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80160" y="3035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16152" y="36118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2R~4R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5303520" y="1737360"/>
            <a:ext cx="274320" cy="27432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0" y="14813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북동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56632" y="205740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3R~4R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011680" y="4846320"/>
            <a:ext cx="274320" cy="27432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0" y="45902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남서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764792" y="516636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3R~4R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011680" y="1737360"/>
            <a:ext cx="274320" cy="27432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828800" y="14813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764792" y="205740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4R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5303520" y="4846320"/>
            <a:ext cx="274320" cy="27432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120640" y="45902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56632" y="516636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4R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7360920" y="1051560"/>
            <a:ext cx="4389120" cy="51663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5512" y="116128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표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35240" y="1508760"/>
            <a:ext cx="38404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754112" y="1600200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Spawn_N  |  (0, +1500uu)  |  북 / 1~4R</a:t>
            </a:r>
            <a:endParaRPr lang="en-US" sz="610" dirty="0"/>
          </a:p>
        </p:txBody>
      </p:sp>
      <p:sp>
        <p:nvSpPr>
          <p:cNvPr id="34" name="Shape 32"/>
          <p:cNvSpPr/>
          <p:nvPr/>
        </p:nvSpPr>
        <p:spPr>
          <a:xfrm>
            <a:off x="7635240" y="1975104"/>
            <a:ext cx="384048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754112" y="2066544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Spawn_S  |  (0, -1500uu)  |  남 / 1~4R</a:t>
            </a:r>
            <a:endParaRPr lang="en-US" sz="610" dirty="0"/>
          </a:p>
        </p:txBody>
      </p:sp>
      <p:sp>
        <p:nvSpPr>
          <p:cNvPr id="36" name="Shape 34"/>
          <p:cNvSpPr/>
          <p:nvPr/>
        </p:nvSpPr>
        <p:spPr>
          <a:xfrm>
            <a:off x="7635240" y="2441448"/>
            <a:ext cx="38404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754112" y="2532888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Spawn_E  |  (+2000, 0uu)  |  동 / 2~4R</a:t>
            </a:r>
            <a:endParaRPr lang="en-US" sz="610" dirty="0"/>
          </a:p>
        </p:txBody>
      </p:sp>
      <p:sp>
        <p:nvSpPr>
          <p:cNvPr id="38" name="Shape 36"/>
          <p:cNvSpPr/>
          <p:nvPr/>
        </p:nvSpPr>
        <p:spPr>
          <a:xfrm>
            <a:off x="7635240" y="2907792"/>
            <a:ext cx="384048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754112" y="2999232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Spawn_W  |  (-2000, 0uu)  |  서 / 2~4R</a:t>
            </a:r>
            <a:endParaRPr lang="en-US" sz="610" dirty="0"/>
          </a:p>
        </p:txBody>
      </p:sp>
      <p:sp>
        <p:nvSpPr>
          <p:cNvPr id="40" name="Shape 38"/>
          <p:cNvSpPr/>
          <p:nvPr/>
        </p:nvSpPr>
        <p:spPr>
          <a:xfrm>
            <a:off x="7635240" y="3374136"/>
            <a:ext cx="38404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754112" y="3465576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Spawn_NE  |  (+1600, +1200)  |  북동 / 3~4R</a:t>
            </a:r>
            <a:endParaRPr lang="en-US" sz="610" dirty="0"/>
          </a:p>
        </p:txBody>
      </p:sp>
      <p:sp>
        <p:nvSpPr>
          <p:cNvPr id="42" name="Shape 40"/>
          <p:cNvSpPr/>
          <p:nvPr/>
        </p:nvSpPr>
        <p:spPr>
          <a:xfrm>
            <a:off x="7635240" y="3840480"/>
            <a:ext cx="384048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754112" y="3931920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Spawn_SW  |  (-1600, -1200)  |  남서 / 3~4R</a:t>
            </a:r>
            <a:endParaRPr lang="en-US" sz="610" dirty="0"/>
          </a:p>
        </p:txBody>
      </p:sp>
      <p:sp>
        <p:nvSpPr>
          <p:cNvPr id="44" name="Shape 42"/>
          <p:cNvSpPr/>
          <p:nvPr/>
        </p:nvSpPr>
        <p:spPr>
          <a:xfrm>
            <a:off x="7635240" y="4306824"/>
            <a:ext cx="38404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754112" y="4398264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Spawn_NW  |  (-1600, +1200)  |  북서 / 4R</a:t>
            </a:r>
            <a:endParaRPr lang="en-US" sz="610" dirty="0"/>
          </a:p>
        </p:txBody>
      </p:sp>
      <p:sp>
        <p:nvSpPr>
          <p:cNvPr id="46" name="Shape 44"/>
          <p:cNvSpPr/>
          <p:nvPr/>
        </p:nvSpPr>
        <p:spPr>
          <a:xfrm>
            <a:off x="7635240" y="4773168"/>
            <a:ext cx="384048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635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754112" y="4864608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Spawn_SE  |  (+1600, -1200)  |  남동 / 4R</a:t>
            </a:r>
            <a:endParaRPr lang="en-US" sz="610" dirty="0"/>
          </a:p>
        </p:txBody>
      </p:sp>
      <p:sp>
        <p:nvSpPr>
          <p:cNvPr id="48" name="Text 46"/>
          <p:cNvSpPr/>
          <p:nvPr/>
        </p:nvSpPr>
        <p:spPr>
          <a:xfrm>
            <a:off x="7635240" y="5486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보스는 BossSpawn_Center = (0, 0, 0)에서 생성하고, 등장 연출용으로 2~3초 지연 후 AI를 활성화합니다.</a:t>
            </a:r>
            <a:endParaRPr lang="en-US" sz="72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엄폐물·아이템 수치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유지가 가능하도록 안전 구역과 위험 구역을 나누기</a:t>
            </a:r>
            <a:endParaRPr lang="en-US" sz="1050" dirty="0"/>
          </a:p>
        </p:txBody>
      </p:sp>
      <p:pic>
        <p:nvPicPr>
          <p:cNvPr id="4" name="Image 0" descr="/mnt/data/중앙_거점_웨이브_슈터_아레나_맵.png"/>
          <p:cNvPicPr>
            <a:picLocks noChangeAspect="1"/>
          </p:cNvPicPr>
          <p:nvPr/>
        </p:nvPicPr>
        <p:blipFill>
          <a:blip r:embed="rId3"/>
          <a:srcRect l="8518" r="8518"/>
          <a:stretch/>
        </p:blipFill>
        <p:spPr>
          <a:xfrm>
            <a:off x="1051560" y="1211580"/>
            <a:ext cx="571500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051560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565392" y="11612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엄폐물 배치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93408" y="14813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수량: 낮은 엄폐물 8개 + 높은 엄폐물 4개 = 총 12개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93408" y="18105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링 바깥 4분면에 균등 배치. 플레이어가 한 곳에 고정되지 않도록 링 형태로 회전 이동을 유도합니다.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6400800" y="269748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65392" y="280720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엄폐물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37960" y="3108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69480" y="31363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 1.0m · 사격 가능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9052560" y="269748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F8FB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217152" y="280720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엄폐물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89720" y="3108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921240" y="31363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 2.0m · 완전 보호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6400800" y="379476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565392" y="390448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링 폭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537960" y="4206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5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69480" y="42336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회피 이동 · 점프 금지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9052560" y="379476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F8FB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217152" y="390448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외곽 통로 폭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189720" y="42062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4.0m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921240" y="42336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진입 · 끼임 방지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6400800" y="5074920"/>
            <a:ext cx="5303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565392" y="51846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배치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675120" y="5486400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보급 상자 2개: 동·서 내부 통로 / 회복 아이템 2개: 북동·남서 내부 엄폐 구역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6675120" y="57972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리스폰: 보급 45초, 회복 60초. 5R 보스전 시작 시 1회 강제 리필.</a:t>
            </a:r>
            <a:endParaRPr lang="en-US" sz="7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언리얼 구현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Blueprint 중심으로 빠르게 구현하고, 핵심 로직만 C++ 전환 가능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516636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58952" y="120700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BP_WaveManager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0280" y="13075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 시작/종료, 적 수 관리, 스폰 방향 활성화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810512"/>
            <a:ext cx="5166360" cy="594360"/>
          </a:xfrm>
          <a:prstGeom prst="roundRect">
            <a:avLst>
              <a:gd name="adj" fmla="val 13846"/>
            </a:avLst>
          </a:prstGeom>
          <a:solidFill>
            <a:srgbClr val="F8FB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BP_SpawnPoint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40280" y="202082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태그, 라운드 활성 조건, 스폰 위치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2523744"/>
            <a:ext cx="516636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58952" y="263347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BP_EnemyBase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40280" y="273405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체력, 이동, 공격, 사망 이벤트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3236976"/>
            <a:ext cx="5166360" cy="594360"/>
          </a:xfrm>
          <a:prstGeom prst="roundRect">
            <a:avLst>
              <a:gd name="adj" fmla="val 13846"/>
            </a:avLst>
          </a:prstGeom>
          <a:solidFill>
            <a:srgbClr val="F8FB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58952" y="3346704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BP_BossEnemy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40280" y="344728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5R 보스 패턴, 체력바, 소환몹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" y="3950208"/>
            <a:ext cx="516636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8952" y="4059936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BP_PlayerCharacter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40280" y="41605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이동, 조준, 발사, 피격 처리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5166360" cy="594360"/>
          </a:xfrm>
          <a:prstGeom prst="roundRect">
            <a:avLst>
              <a:gd name="adj" fmla="val 13846"/>
            </a:avLst>
          </a:prstGeom>
          <a:solidFill>
            <a:srgbClr val="F8FB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8952" y="4773168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WBP_HUD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240280" y="48737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체력, 탄약, 라운드, 남은 적 수 표시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234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F5EA8"/>
          </a:solidFill>
          <a:ln w="12700">
            <a:solidFill>
              <a:srgbClr val="1F5E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92240" y="1344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Round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0" y="1737360"/>
            <a:ext cx="0" cy="365760"/>
          </a:xfrm>
          <a:prstGeom prst="line">
            <a:avLst/>
          </a:prstGeom>
          <a:noFill/>
          <a:ln w="25400">
            <a:solidFill>
              <a:srgbClr val="546A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00800" y="2103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92240" y="2212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 Tags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0" y="2606040"/>
            <a:ext cx="0" cy="365760"/>
          </a:xfrm>
          <a:prstGeom prst="line">
            <a:avLst/>
          </a:prstGeom>
          <a:noFill/>
          <a:ln w="25400">
            <a:solidFill>
              <a:srgbClr val="546A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400800" y="29718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92240" y="3081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Enemies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0" y="3474720"/>
            <a:ext cx="0" cy="365760"/>
          </a:xfrm>
          <a:prstGeom prst="line">
            <a:avLst/>
          </a:prstGeom>
          <a:noFill/>
          <a:ln w="25400">
            <a:solidFill>
              <a:srgbClr val="546A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400800" y="38404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92240" y="3950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Kills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0" y="4343400"/>
            <a:ext cx="0" cy="365760"/>
          </a:xfrm>
          <a:prstGeom prst="line">
            <a:avLst/>
          </a:prstGeom>
          <a:noFill/>
          <a:ln w="25400">
            <a:solidFill>
              <a:srgbClr val="546A7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400800" y="47091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92240" y="4818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Round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Boss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732520" y="1097280"/>
            <a:ext cx="2788920" cy="44805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897112" y="1207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 데이터 예시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988552" y="161848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Round=1  Dirs=N,S  Count=12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Round=2  Dirs=N,S,E,W  Count=20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Round=3  +NE,SW  Count=28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Round=4  +NW,SE  Count=36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Round=5  BossCenter + Adds=12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8988552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DataTable로 라운드 정보를 관리하면, 적 수/스폰 간격/방향을 블루프린트에서 쉽게 조정할 수 있습니다.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8988552" y="4297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폴더 구조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Content/Blueprints/Wave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Content/Blueprints/Enemy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Content/Blueprints/UI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Content/Maps/Arena</a:t>
            </a:r>
            <a:endParaRPr lang="en-US" sz="72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체크리스트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완성도를 높이는 우선순위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61288"/>
            <a:ext cx="384048" cy="384048"/>
          </a:xfrm>
          <a:prstGeom prst="ellipse">
            <a:avLst/>
          </a:prstGeom>
          <a:solidFill>
            <a:srgbClr val="1F5E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70432" y="11430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블록아웃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11612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4000uu × 3000uu 크기로 바닥/벽/중앙 링부터 제작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1F5E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9293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" y="18288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 포인트 배치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18470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8방향 SpawnPoint Actor 배치 + Direction Tag 설정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40080" y="2532888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6151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2514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웨이브 매니저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25328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라운드별 활성 방향, 적 수, 스폰 간격 DataTable화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0080" y="3218688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3009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루프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71800" y="32186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사망 카운트 → 라운드 클리어 → 다음 라운드 시작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40080" y="3904488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9867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70432" y="3886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5R 보스전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71800" y="39044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보스 등장 연출, 체력바, 패턴 2~3개 구현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40080" y="459028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6725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70432" y="45720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UI/사운드/VFX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71800" y="45902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 알림, 피격 이펙트, 스폰 경고 표시 추가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315200" y="1143000"/>
            <a:ext cx="4297680" cy="443484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479792" y="125272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목표 스펙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635240" y="164592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708392" y="17373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8~10분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08392" y="205740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타임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9509760" y="164592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82912" y="173736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82912" y="205740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 수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7635240" y="2450592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708392" y="254203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기본/빠른/탱커/보스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08392" y="286207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종류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9509760" y="2450592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582912" y="254203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5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8방향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582912" y="286207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스폰 방향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7635240" y="3255264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708392" y="3346704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체력·탄약·라운드·남은 적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08392" y="366674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9509760" y="3255264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9582912" y="3346704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라운드별 방향 증가, 5R 보스 등장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82912" y="366674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포인트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7635240" y="4709160"/>
            <a:ext cx="3611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구조는 “랜덤 적을 잡는 게임”보다 더 명확하게 보입니다.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546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영상에서는 라운드별로 접근 방향이 늘어나는 장면을 꼭 보여주는 게 좋아요.</a:t>
            </a:r>
            <a:endParaRPr lang="en-US" sz="82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568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B8794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1005</Words>
  <Application>Microsoft Office PowerPoint</Application>
  <PresentationFormat>와이드스크린</PresentationFormat>
  <Paragraphs>219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중앙 거점 웨이브 슈터 맵 설계</dc:title>
  <dc:subject>Unreal Engine Wave Shooter Arena Map Plan</dc:subject>
  <dc:creator>OpenAI</dc:creator>
  <cp:lastModifiedBy>성식 오</cp:lastModifiedBy>
  <cp:revision>1</cp:revision>
  <dcterms:created xsi:type="dcterms:W3CDTF">2026-06-30T00:38:23Z</dcterms:created>
  <dcterms:modified xsi:type="dcterms:W3CDTF">2026-07-01T13:28:14Z</dcterms:modified>
</cp:coreProperties>
</file>